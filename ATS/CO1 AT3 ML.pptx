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230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171700" y="1327151"/>
            <a:ext cx="82465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564217" y="2259013"/>
            <a:ext cx="9063567" cy="43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144434" y="6378575"/>
            <a:ext cx="39031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09601" y="6378575"/>
            <a:ext cx="28045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068050" y="6481763"/>
            <a:ext cx="239183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4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1680036" y="998538"/>
            <a:ext cx="8605837" cy="268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475" rIns="0" bIns="0" anchor="t" anchorCtr="0">
            <a:spAutoFit/>
          </a:bodyPr>
          <a:lstStyle/>
          <a:p>
            <a:pPr marL="365125">
              <a:buClr>
                <a:srgbClr val="C00000"/>
              </a:buClr>
              <a:buSzPts val="2800"/>
            </a:pPr>
            <a:br>
              <a:rPr lang="en-US" sz="2800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Learning Problems and Perspectives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CAPSTONE PROJECT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ITA 0609 – Machine learning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1817688" y="4508500"/>
            <a:ext cx="4999037" cy="14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" rIns="0" bIns="0" anchor="t" anchorCtr="0">
            <a:spAutoFit/>
          </a:bodyPr>
          <a:lstStyle/>
          <a:p>
            <a:pPr marL="12700" algn="ctr">
              <a:lnSpc>
                <a:spcPct val="122000"/>
              </a:lnSpc>
              <a:buClr>
                <a:srgbClr val="C00000"/>
              </a:buClr>
              <a:buSzPts val="2400"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</a:t>
            </a:r>
            <a:endParaRPr dirty="0"/>
          </a:p>
          <a:p>
            <a:pPr marL="12700" algn="ctr">
              <a:lnSpc>
                <a:spcPct val="122000"/>
              </a:lnSpc>
              <a:spcBef>
                <a:spcPts val="100"/>
              </a:spcBef>
              <a:buClr>
                <a:srgbClr val="002060"/>
              </a:buClr>
              <a:buSzPts val="1600"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A. Shri Vindhya</a:t>
            </a:r>
          </a:p>
          <a:p>
            <a:pPr marL="12700" algn="ctr">
              <a:lnSpc>
                <a:spcPct val="122000"/>
              </a:lnSpc>
              <a:spcBef>
                <a:spcPts val="100"/>
              </a:spcBef>
              <a:buClr>
                <a:srgbClr val="002060"/>
              </a:buClr>
              <a:buSzPts val="1600"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algn="ctr">
              <a:lnSpc>
                <a:spcPct val="122000"/>
              </a:lnSpc>
              <a:spcBef>
                <a:spcPts val="100"/>
              </a:spcBef>
              <a:buClr>
                <a:srgbClr val="002060"/>
              </a:buClr>
              <a:buSzPts val="1600"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49" name="Google Shape;49;p7"/>
          <p:cNvSpPr txBox="1"/>
          <p:nvPr/>
        </p:nvSpPr>
        <p:spPr>
          <a:xfrm>
            <a:off x="6553200" y="4406900"/>
            <a:ext cx="3446462" cy="108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33337" algn="ctr">
              <a:buClr>
                <a:srgbClr val="C00000"/>
              </a:buClr>
              <a:buSzPts val="2400"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" algn="ctr">
              <a:spcBef>
                <a:spcPts val="500"/>
              </a:spcBef>
              <a:buClr>
                <a:srgbClr val="002060"/>
              </a:buClr>
              <a:buSzPts val="1600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ARSAT P (192424038)</a:t>
            </a:r>
            <a:b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9850438" y="6411912"/>
            <a:ext cx="115887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>
              <a:buClr>
                <a:srgbClr val="000000"/>
              </a:buClr>
              <a:buSzPts val="1400"/>
            </a:pPr>
            <a:r>
              <a:rPr lang="en-US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0312" y="442912"/>
            <a:ext cx="7239000" cy="11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Learning Problems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tasks are commonly grouped by the nature of the feedback available to the learner.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2F8F8"/>
          </a:solidFill>
          <a:ln/>
          <a:effectLst>
            <a:outerShdw blurRad="76200" dist="25400" dir="5400000" algn="bl" rotWithShape="0">
              <a:srgbClr val="8FAEB3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FaTags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mapping f: X → Y from labeled examples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prediction error on unseen data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classification, regression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detection, price prediction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2F8F8"/>
          </a:solidFill>
          <a:ln/>
          <a:effectLst>
            <a:outerShdw blurRad="76200" dist="25400" dir="5400000" algn="bl" rotWithShape="0">
              <a:srgbClr val="8FAEB3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/FaSitemap_00A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970" y="22256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566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structure from unlabeled data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target output is given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clustering, dimensionality reduction, density estimation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segmentation, anomaly detection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2F8F8"/>
          </a:solidFill>
          <a:ln/>
          <a:effectLst>
            <a:outerShdw blurRad="76200" dist="25400" dir="5400000" algn="bl" rotWithShape="0">
              <a:srgbClr val="8FAEB3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116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ppt/FaGamepad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010" y="22256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5661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via reward/punishment from environment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cumulative long-term reward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exploration vs. exploitation trade-off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 playing, robotics, control systems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vs. Unsupervised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300" dirty="0">
                <a:solidFill>
                  <a:srgbClr val="E6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pairs (x, y)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approximate the true function mapping inputs to outputs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linear/logistic regression, decision trees, SVM, neural networks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accuracy, precision/recall, MSE on a held-out test set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high predictive accuracy when labeled data is abundant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labeling cost, poor generalization to unseen distributions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2F8F8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 x only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56032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discover hidden structure, patterns, or groupings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k-means, hierarchical clustering, PCA, autoencoders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intrinsic measures (silhouette score, reconstruction error)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works without expensive labeling; reveals unknown patterns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results harder to validate; ambiguous success criteria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Learning: Agent-Environment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2121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1874520" cy="274320"/>
          </a:xfrm>
          <a:prstGeom prst="rightArrow">
            <a:avLst/>
          </a:prstGeom>
          <a:solidFill>
            <a:srgbClr val="F0A202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44475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(aₜ)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1874520" cy="274320"/>
          </a:xfrm>
          <a:prstGeom prst="leftArrow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(sₜ₊₁), reward (rₜ₊₁)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29000"/>
            <a:ext cx="73152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vs. Exploitation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trying new actions against leveraging known rewarding ones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4290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3429000"/>
            <a:ext cx="73152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Signal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38404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feedback guiding the agent toward long-term cumulative reward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663440"/>
            <a:ext cx="73152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Value Function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 maps states to actions; value function estimates expected return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6634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4663440"/>
            <a:ext cx="73152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548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Consequences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29400" y="50749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affect future states, requiring credit assignment over time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on Learning: Symbolic vs. Statistical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foundational paradigms shape how learning systems represent knowledge and generalize.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FaBrain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Approach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knowledge with explicit rules, logic, and symbols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search over hypothesis space of logical expressions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decision trees, rule induction, inductive logic programming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interpretable, supports reasoning and explanation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brittle with noisy data, scales poorly to raw perception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/FaChartLine_00A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035" y="2110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Approach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66560" y="29260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knowledge as probability distributions and parameters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optimization to fit parameters to observed data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Bayesian networks, neural networks, kernel methods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robust to noise, scales well with data volume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 often a “black box”, needs large data for reliability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Issues I: Data Quality &amp; Overfitting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2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777240" cy="77724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/home/claude/ppt/FaDatabase_F0A2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1802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missing, or mislabeled data degrades model reliability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 causes skewed representation of the real distribution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 volume limits statistical learning approaches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relevance &amp; scaling directly affect model performance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cleaning, augmentation, active/semi-supervised learning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2F8F8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600200"/>
            <a:ext cx="777240" cy="7772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0" name="Image 1" descr="/home/claude/ppt/FaBullseye_D726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922" y="18022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766560" y="265176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noise instead of learning true patterns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low training error, high error on unseen test data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excessive model complexity relative to data size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train/validation gap and cross-validation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regularization, pruning, early stopping, more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Issues II: Computational Complexity &amp; System Design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ppt/FaMicrochip_2129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1893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Complexity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3891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 scales with data size, dimensionality, and model depth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between model expressiveness and training/inference time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constraints limit batch size and feasible model scale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require bounded inference latency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1371600"/>
            <a:ext cx="5623560" cy="4709160"/>
          </a:xfrm>
          <a:prstGeom prst="roundRect">
            <a:avLst>
              <a:gd name="adj" fmla="val 1942"/>
            </a:avLst>
          </a:prstGeom>
          <a:solidFill>
            <a:srgbClr val="F2F8F8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16002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on Design &amp; Performance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0756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0" y="23682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&amp; noise level guide the pick between symbolic, statistical, or hybrid methods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31546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0358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capacity: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0" y="332841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 sets limits on complexity; regularization becomes a core design choice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39959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0" y="42885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Compute/memory budgets determine feasible architectures and batch/online training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09360" y="50749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49560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strategy: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0" y="524865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and held-out test sets are built in to detect generalization failure early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6B82D-D777-EE17-B5BC-61FBDD6D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16" y="1147666"/>
            <a:ext cx="6494106" cy="487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3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717</Words>
  <Application>Microsoft Office PowerPoint</Application>
  <PresentationFormat>Widescreen</PresentationFormat>
  <Paragraphs>101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 Learning Problems and Perspectives  CAPSTONE PROJECT  ITA 0609 –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ARSAT .P</cp:lastModifiedBy>
  <cp:revision>5</cp:revision>
  <dcterms:created xsi:type="dcterms:W3CDTF">2026-07-29T03:08:48Z</dcterms:created>
  <dcterms:modified xsi:type="dcterms:W3CDTF">2026-07-31T14:19:47Z</dcterms:modified>
</cp:coreProperties>
</file>